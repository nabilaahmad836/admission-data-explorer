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7" r:id="rId5"/>
    <p:sldId id="309" r:id="rId6"/>
    <p:sldId id="263" r:id="rId7"/>
    <p:sldId id="319" r:id="rId8"/>
    <p:sldId id="318" r:id="rId9"/>
    <p:sldId id="310" r:id="rId10"/>
    <p:sldId id="320" r:id="rId11"/>
    <p:sldId id="321" r:id="rId12"/>
    <p:sldId id="322" r:id="rId13"/>
    <p:sldId id="323" r:id="rId14"/>
    <p:sldId id="324" r:id="rId15"/>
    <p:sldId id="325" r:id="rId16"/>
    <p:sldId id="311"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p:scale>
          <a:sx n="58" d="100"/>
          <a:sy n="58" d="100"/>
        </p:scale>
        <p:origin x="988" y="6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9/22/2026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7FDEB-A228-8B1E-6B45-C64284D70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5A447-FD58-06B2-528C-EEC1F4247A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8D996A-1DA5-3D8E-2611-B27082CAF6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6CB508-385F-92DE-3BFE-AEF2CD8FED2C}"/>
              </a:ext>
            </a:extLst>
          </p:cNvPr>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3157596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EA37D-AF95-FA28-97F8-1A14117DD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757DE-213A-CD5C-0E2D-651FDFCB7D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F07E54-2958-A11D-2050-3449AB726A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8AE72-0963-E6D5-DACD-F55C170AEF36}"/>
              </a:ext>
            </a:extLst>
          </p:cNvPr>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186986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33B5-2FA3-DAE6-44E8-4416371D6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B49EC-2CFB-90A4-8199-1647B83A85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C05ABD-BEB4-B289-063A-9F116E4D2C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F155A6-013B-263B-8B3D-05091B9BAC9F}"/>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03455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E3597-9F84-FCC7-D097-5E43B7F9C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5F35B-52CA-ADA9-403B-982461A17F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5C60A5-4DAC-A948-CB07-DFC6228B2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008BA8-A0E1-D900-D6FE-568BF0F89DC8}"/>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726710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F89E0-B670-F03F-1D02-ADD1A31F3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0BC70-DFE8-A957-6BDE-92BBA44287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6174EF-B022-5638-343B-747C1497F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190A92-FDBE-E1C5-168D-5AEC5C093E59}"/>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575959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E4D3C-691A-5309-12F4-C59EF87D1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A1D45-0D5C-E7A1-6A69-DE9AAE7DF9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ACEC95-40F2-F7A6-1E99-FDE1C4F7B0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885345-251A-EA39-5BA1-44B521C74912}"/>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3436452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7D44E-C601-1FB5-60DA-A6BB2F809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72DEB-C53C-0B14-F258-2927E1CF74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BE6643-9490-1C3A-9DD2-24F910CDE0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E7212-85A8-3F6D-1E8C-4DF9C26CBFFA}"/>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2577473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sz="3200" b="1" dirty="0"/>
              <a:t>ADMISSION DATA EXPLORER</a:t>
            </a:r>
            <a:br>
              <a:rPr lang="en-US" sz="3200" b="1" dirty="0"/>
            </a:br>
            <a:br>
              <a:rPr lang="en-US" sz="3200" dirty="0"/>
            </a:br>
            <a:r>
              <a:rPr lang="en-US" sz="3200" dirty="0"/>
              <a:t>Learning Pathway: </a:t>
            </a:r>
            <a:r>
              <a:rPr lang="en-US" sz="3200" b="1" dirty="0"/>
              <a:t>Generative AI and Data Science</a:t>
            </a:r>
            <a:br>
              <a:rPr lang="en-US" sz="3200" dirty="0"/>
            </a:br>
            <a:r>
              <a:rPr lang="en-US" sz="3200" dirty="0"/>
              <a:t>Hands-on Project</a:t>
            </a:r>
            <a:br>
              <a:rPr lang="en-US" sz="3200" dirty="0"/>
            </a:br>
            <a:br>
              <a:rPr lang="en-US" sz="3200" dirty="0"/>
            </a:br>
            <a:r>
              <a:rPr lang="en-US" sz="3200" b="1" dirty="0"/>
              <a:t>Nabila Ahmad</a:t>
            </a:r>
            <a:br>
              <a:rPr lang="en-US" sz="3200" dirty="0"/>
            </a:br>
            <a:r>
              <a:rPr lang="en-US" sz="3200" dirty="0"/>
              <a:t>SIWES — FlexiSAF Edusoft Limited</a:t>
            </a:r>
            <a:br>
              <a:rPr lang="en-US" sz="3200" dirty="0"/>
            </a:br>
            <a:endParaRPr lang="en-US" sz="3200"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dirty="0"/>
              <a:t>PROJECT DESCRIPTION</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normAutofit lnSpcReduction="10000"/>
          </a:bodyPr>
          <a:lstStyle/>
          <a:p>
            <a:r>
              <a:rPr lang="en-US" dirty="0"/>
              <a:t>Students will build a python-based data analysis dashboard to explore applicants data such as gender distribution, program preferences, and admission outcomes. Using pandas, matplotlib and seaborn, they will clean, analyze and visualize datasets representing real-world scenarios.</a:t>
            </a:r>
          </a:p>
          <a:p>
            <a:pPr marL="0" indent="0">
              <a:buNone/>
            </a:pPr>
            <a:r>
              <a:rPr lang="en-US" sz="2400" dirty="0">
                <a:latin typeface="+mj-lt"/>
              </a:rPr>
              <a:t>PROJECT GOALS</a:t>
            </a:r>
            <a:r>
              <a:rPr lang="en-US" sz="2800" dirty="0">
                <a:latin typeface="+mj-lt"/>
              </a:rPr>
              <a:t>:</a:t>
            </a:r>
          </a:p>
          <a:p>
            <a:r>
              <a:rPr lang="en-US" dirty="0"/>
              <a:t>To clean and visualize applicants dataset, demonstrating mastery in EDA (Exploratory Data Analysis) Techniques.</a:t>
            </a:r>
          </a:p>
          <a:p>
            <a:pPr marL="0" indent="0">
              <a:buNone/>
            </a:pPr>
            <a:r>
              <a:rPr lang="en-US" sz="2400" dirty="0">
                <a:latin typeface="+mj-lt"/>
              </a:rPr>
              <a:t>TARGET AUDIENCE:</a:t>
            </a:r>
          </a:p>
          <a:p>
            <a:r>
              <a:rPr lang="en-US" sz="2200" dirty="0"/>
              <a:t>Admissions analyst and students learning data storytelling</a:t>
            </a:r>
            <a:r>
              <a:rPr lang="en-US" sz="2400" dirty="0">
                <a:latin typeface="+mj-lt"/>
              </a:rPr>
              <a:t>.</a:t>
            </a:r>
          </a:p>
          <a:p>
            <a:pPr marL="0" indent="0">
              <a:buNone/>
            </a:pPr>
            <a:endParaRPr lang="en-US" dirty="0"/>
          </a:p>
          <a:p>
            <a:pPr marL="0" indent="0">
              <a:buNone/>
            </a:pPr>
            <a:endParaRPr lang="en-US" sz="2800" dirty="0">
              <a:latin typeface="+mj-lt"/>
            </a:endParaRPr>
          </a:p>
          <a:p>
            <a:pPr marL="0" indent="0">
              <a:buNone/>
            </a:pPr>
            <a:endParaRPr lang="en-US" sz="2800" dirty="0">
              <a:latin typeface="+mj-lt"/>
            </a:endParaRPr>
          </a:p>
          <a:p>
            <a:pPr marL="0" indent="0">
              <a:buNone/>
            </a:pPr>
            <a:endParaRPr lang="en-US" dirty="0"/>
          </a:p>
          <a:p>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r>
              <a:rPr lang="en-US" b="1" dirty="0"/>
              <a:t>1</a:t>
            </a:r>
          </a:p>
        </p:txBody>
      </p:sp>
    </p:spTree>
    <p:extLst>
      <p:ext uri="{BB962C8B-B14F-4D97-AF65-F5344CB8AC3E}">
        <p14:creationId xmlns:p14="http://schemas.microsoft.com/office/powerpoint/2010/main" val="196691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p:txBody>
          <a:bodyPr anchor="b"/>
          <a:lstStyle/>
          <a:p>
            <a:r>
              <a:rPr lang="en-US" dirty="0"/>
              <a:t>Project Overview</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sz="quarter" idx="10"/>
          </p:nvPr>
        </p:nvSpPr>
        <p:spPr/>
        <p:txBody>
          <a:bodyPr/>
          <a:lstStyle/>
          <a:p>
            <a:pPr lvl="0"/>
            <a:r>
              <a:rPr lang="en-US" dirty="0"/>
              <a:t>  Admission Data Explorer is a data analysis project focused on college admission data. </a:t>
            </a:r>
          </a:p>
          <a:p>
            <a:pPr lvl="0"/>
            <a:r>
              <a:rPr lang="en-US" dirty="0"/>
              <a:t>The project uses Python for data cleaning, analysis, visualization, and insight generation. </a:t>
            </a:r>
          </a:p>
          <a:p>
            <a:pPr lvl="0"/>
            <a:r>
              <a:rPr lang="en-US" dirty="0"/>
              <a:t>The project explores applicant demographics, programme preferences, academic performance, and admission outcomes. </a:t>
            </a:r>
          </a:p>
          <a:p>
            <a:pPr lvl="0"/>
            <a:r>
              <a:rPr lang="en-US" dirty="0"/>
              <a:t>A rule-based system was also developed to automatically generate plain-English insights from the analysis.</a:t>
            </a:r>
          </a:p>
          <a:p>
            <a:pPr marL="0" indent="0">
              <a:buNone/>
            </a:pPr>
            <a:endParaRPr lang="en-US" dirty="0"/>
          </a:p>
        </p:txBody>
      </p:sp>
      <p:sp>
        <p:nvSpPr>
          <p:cNvPr id="2" name="TextBox 1">
            <a:extLst>
              <a:ext uri="{FF2B5EF4-FFF2-40B4-BE49-F238E27FC236}">
                <a16:creationId xmlns:a16="http://schemas.microsoft.com/office/drawing/2014/main" id="{0DE75BC1-7C33-2939-6525-294C76F39FE7}"/>
              </a:ext>
            </a:extLst>
          </p:cNvPr>
          <p:cNvSpPr txBox="1"/>
          <p:nvPr/>
        </p:nvSpPr>
        <p:spPr>
          <a:xfrm>
            <a:off x="11446526" y="6059278"/>
            <a:ext cx="369012" cy="461665"/>
          </a:xfrm>
          <a:prstGeom prst="rect">
            <a:avLst/>
          </a:prstGeom>
          <a:noFill/>
        </p:spPr>
        <p:txBody>
          <a:bodyPr wrap="none" rtlCol="0">
            <a:spAutoFit/>
          </a:bodyPr>
          <a:lstStyle/>
          <a:p>
            <a:r>
              <a:rPr lang="en-US" sz="2400" b="1" dirty="0">
                <a:latin typeface="+mj-lt"/>
              </a:rPr>
              <a:t>2</a:t>
            </a:r>
          </a:p>
        </p:txBody>
      </p:sp>
    </p:spTree>
    <p:extLst>
      <p:ext uri="{BB962C8B-B14F-4D97-AF65-F5344CB8AC3E}">
        <p14:creationId xmlns:p14="http://schemas.microsoft.com/office/powerpoint/2010/main" val="1096717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3BE34CF-264B-017B-30D7-749E68AA5FC7}"/>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85D90565-C1BF-B311-1AAF-2E2DDA7A1809}"/>
              </a:ext>
            </a:extLst>
          </p:cNvPr>
          <p:cNvSpPr>
            <a:spLocks noGrp="1"/>
          </p:cNvSpPr>
          <p:nvPr>
            <p:ph type="title"/>
          </p:nvPr>
        </p:nvSpPr>
        <p:spPr/>
        <p:txBody>
          <a:bodyPr anchor="b"/>
          <a:lstStyle/>
          <a:p>
            <a:r>
              <a:rPr lang="en-US" dirty="0"/>
              <a:t>Dataset Information</a:t>
            </a:r>
          </a:p>
        </p:txBody>
      </p:sp>
      <p:sp>
        <p:nvSpPr>
          <p:cNvPr id="15" name="Text Placeholder 14">
            <a:extLst>
              <a:ext uri="{FF2B5EF4-FFF2-40B4-BE49-F238E27FC236}">
                <a16:creationId xmlns:a16="http://schemas.microsoft.com/office/drawing/2014/main" id="{5F24B5E8-19E4-72C9-1832-0B81012006D5}"/>
              </a:ext>
            </a:extLst>
          </p:cNvPr>
          <p:cNvSpPr>
            <a:spLocks noGrp="1"/>
          </p:cNvSpPr>
          <p:nvPr>
            <p:ph sz="quarter" idx="10"/>
          </p:nvPr>
        </p:nvSpPr>
        <p:spPr/>
        <p:txBody>
          <a:bodyPr/>
          <a:lstStyle/>
          <a:p>
            <a:r>
              <a:rPr lang="en-US" b="1" dirty="0"/>
              <a:t>Dataset:</a:t>
            </a:r>
            <a:r>
              <a:rPr lang="en-US" dirty="0"/>
              <a:t> College Admission Dataset (India)</a:t>
            </a:r>
          </a:p>
          <a:p>
            <a:r>
              <a:rPr lang="en-US" b="1" dirty="0"/>
              <a:t>Source:</a:t>
            </a:r>
            <a:r>
              <a:rPr lang="en-US" dirty="0"/>
              <a:t> Kaggle</a:t>
            </a:r>
          </a:p>
          <a:p>
            <a:r>
              <a:rPr lang="en-US" b="1" dirty="0"/>
              <a:t>Original Credit:</a:t>
            </a:r>
            <a:r>
              <a:rPr lang="en-US" dirty="0"/>
              <a:t> Kundan Sagar Bedmutha</a:t>
            </a:r>
          </a:p>
          <a:p>
            <a:r>
              <a:rPr lang="en-US" b="1" dirty="0"/>
              <a:t>Size: </a:t>
            </a:r>
            <a:r>
              <a:rPr lang="en-US" dirty="0"/>
              <a:t>25,000 rows ,13 columns</a:t>
            </a:r>
          </a:p>
          <a:p>
            <a:endParaRPr lang="en-US" dirty="0"/>
          </a:p>
          <a:p>
            <a:endParaRPr lang="en-US" dirty="0"/>
          </a:p>
          <a:p>
            <a:endParaRPr lang="en-US" dirty="0"/>
          </a:p>
          <a:p>
            <a:pPr marL="0" indent="0">
              <a:buNone/>
            </a:pPr>
            <a:endParaRPr lang="en-US" dirty="0"/>
          </a:p>
        </p:txBody>
      </p:sp>
      <p:pic>
        <p:nvPicPr>
          <p:cNvPr id="12" name="Picture 11">
            <a:extLst>
              <a:ext uri="{FF2B5EF4-FFF2-40B4-BE49-F238E27FC236}">
                <a16:creationId xmlns:a16="http://schemas.microsoft.com/office/drawing/2014/main" id="{4C183176-CFE4-A3A4-A848-E7A6BD50E4E1}"/>
              </a:ext>
            </a:extLst>
          </p:cNvPr>
          <p:cNvPicPr>
            <a:picLocks noChangeAspect="1"/>
          </p:cNvPicPr>
          <p:nvPr/>
        </p:nvPicPr>
        <p:blipFill>
          <a:blip r:embed="rId3"/>
          <a:stretch>
            <a:fillRect/>
          </a:stretch>
        </p:blipFill>
        <p:spPr>
          <a:xfrm>
            <a:off x="914400" y="3695629"/>
            <a:ext cx="5715000" cy="1739989"/>
          </a:xfrm>
          <a:prstGeom prst="rect">
            <a:avLst/>
          </a:prstGeom>
        </p:spPr>
      </p:pic>
      <p:pic>
        <p:nvPicPr>
          <p:cNvPr id="14" name="Picture 13">
            <a:extLst>
              <a:ext uri="{FF2B5EF4-FFF2-40B4-BE49-F238E27FC236}">
                <a16:creationId xmlns:a16="http://schemas.microsoft.com/office/drawing/2014/main" id="{5B7761C3-0808-704B-6D48-1E6DA4AB9112}"/>
              </a:ext>
            </a:extLst>
          </p:cNvPr>
          <p:cNvPicPr>
            <a:picLocks noChangeAspect="1"/>
          </p:cNvPicPr>
          <p:nvPr/>
        </p:nvPicPr>
        <p:blipFill>
          <a:blip r:embed="rId4"/>
          <a:stretch>
            <a:fillRect/>
          </a:stretch>
        </p:blipFill>
        <p:spPr>
          <a:xfrm>
            <a:off x="6629400" y="3717400"/>
            <a:ext cx="5076973" cy="1676486"/>
          </a:xfrm>
          <a:prstGeom prst="rect">
            <a:avLst/>
          </a:prstGeom>
        </p:spPr>
      </p:pic>
      <p:sp>
        <p:nvSpPr>
          <p:cNvPr id="16" name="TextBox 15">
            <a:extLst>
              <a:ext uri="{FF2B5EF4-FFF2-40B4-BE49-F238E27FC236}">
                <a16:creationId xmlns:a16="http://schemas.microsoft.com/office/drawing/2014/main" id="{6013AFE7-09F2-0989-075B-E50AA780DE9D}"/>
              </a:ext>
            </a:extLst>
          </p:cNvPr>
          <p:cNvSpPr txBox="1"/>
          <p:nvPr/>
        </p:nvSpPr>
        <p:spPr>
          <a:xfrm>
            <a:off x="11366686" y="6048260"/>
            <a:ext cx="679373" cy="461665"/>
          </a:xfrm>
          <a:prstGeom prst="rect">
            <a:avLst/>
          </a:prstGeom>
          <a:noFill/>
        </p:spPr>
        <p:txBody>
          <a:bodyPr wrap="square" rtlCol="0">
            <a:spAutoFit/>
          </a:bodyPr>
          <a:lstStyle/>
          <a:p>
            <a:pPr algn="ctr"/>
            <a:r>
              <a:rPr lang="en-US" sz="2400" b="1" dirty="0">
                <a:latin typeface="+mj-lt"/>
              </a:rPr>
              <a:t>3</a:t>
            </a:r>
          </a:p>
        </p:txBody>
      </p:sp>
    </p:spTree>
    <p:extLst>
      <p:ext uri="{BB962C8B-B14F-4D97-AF65-F5344CB8AC3E}">
        <p14:creationId xmlns:p14="http://schemas.microsoft.com/office/powerpoint/2010/main" val="440791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590A3C-C2A2-1C19-0D21-D7807393CE1A}"/>
              </a:ext>
            </a:extLst>
          </p:cNvPr>
          <p:cNvSpPr>
            <a:spLocks noGrp="1"/>
          </p:cNvSpPr>
          <p:nvPr>
            <p:ph type="sldNum" sz="quarter" idx="4"/>
          </p:nvPr>
        </p:nvSpPr>
        <p:spPr>
          <a:xfrm>
            <a:off x="11530584" y="5879804"/>
            <a:ext cx="661416" cy="895899"/>
          </a:xfrm>
        </p:spPr>
        <p:txBody>
          <a:bodyPr/>
          <a:lstStyle/>
          <a:p>
            <a:r>
              <a:rPr lang="en-US" b="1" dirty="0"/>
              <a:t>4</a:t>
            </a:r>
          </a:p>
        </p:txBody>
      </p:sp>
      <p:sp>
        <p:nvSpPr>
          <p:cNvPr id="2" name="Title 1">
            <a:extLst>
              <a:ext uri="{FF2B5EF4-FFF2-40B4-BE49-F238E27FC236}">
                <a16:creationId xmlns:a16="http://schemas.microsoft.com/office/drawing/2014/main" id="{B87839D6-1798-872E-84FD-86C48B5F7BF9}"/>
              </a:ext>
            </a:extLst>
          </p:cNvPr>
          <p:cNvSpPr>
            <a:spLocks noGrp="1"/>
          </p:cNvSpPr>
          <p:nvPr>
            <p:ph type="title" idx="4294967295"/>
          </p:nvPr>
        </p:nvSpPr>
        <p:spPr>
          <a:xfrm>
            <a:off x="381964" y="486338"/>
            <a:ext cx="10360025" cy="914400"/>
          </a:xfrm>
        </p:spPr>
        <p:txBody>
          <a:bodyPr/>
          <a:lstStyle/>
          <a:p>
            <a:pPr algn="ctr"/>
            <a:r>
              <a:rPr lang="en-US" sz="4000" dirty="0"/>
              <a:t>Methods</a:t>
            </a:r>
          </a:p>
        </p:txBody>
      </p:sp>
      <p:sp>
        <p:nvSpPr>
          <p:cNvPr id="7" name="Rectangle: Rounded Corners 6">
            <a:extLst>
              <a:ext uri="{FF2B5EF4-FFF2-40B4-BE49-F238E27FC236}">
                <a16:creationId xmlns:a16="http://schemas.microsoft.com/office/drawing/2014/main" id="{22598510-41A6-4DE3-E892-C33B8B90F341}"/>
              </a:ext>
            </a:extLst>
          </p:cNvPr>
          <p:cNvSpPr/>
          <p:nvPr/>
        </p:nvSpPr>
        <p:spPr>
          <a:xfrm>
            <a:off x="1168147" y="1579427"/>
            <a:ext cx="2209800" cy="1143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Data Cleaning</a:t>
            </a:r>
          </a:p>
        </p:txBody>
      </p:sp>
      <p:sp>
        <p:nvSpPr>
          <p:cNvPr id="9" name="Rectangle: Rounded Corners 8">
            <a:extLst>
              <a:ext uri="{FF2B5EF4-FFF2-40B4-BE49-F238E27FC236}">
                <a16:creationId xmlns:a16="http://schemas.microsoft.com/office/drawing/2014/main" id="{FEA0850F-A96E-7A1F-DAAC-233D33668573}"/>
              </a:ext>
            </a:extLst>
          </p:cNvPr>
          <p:cNvSpPr/>
          <p:nvPr/>
        </p:nvSpPr>
        <p:spPr>
          <a:xfrm>
            <a:off x="4559827" y="1579427"/>
            <a:ext cx="2209800" cy="1143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EDA</a:t>
            </a:r>
          </a:p>
        </p:txBody>
      </p:sp>
      <p:cxnSp>
        <p:nvCxnSpPr>
          <p:cNvPr id="16" name="Straight Arrow Connector 15">
            <a:extLst>
              <a:ext uri="{FF2B5EF4-FFF2-40B4-BE49-F238E27FC236}">
                <a16:creationId xmlns:a16="http://schemas.microsoft.com/office/drawing/2014/main" id="{C6D22D28-9C57-3FDB-8B7D-36D7F5224AE5}"/>
              </a:ext>
            </a:extLst>
          </p:cNvPr>
          <p:cNvCxnSpPr/>
          <p:nvPr/>
        </p:nvCxnSpPr>
        <p:spPr>
          <a:xfrm>
            <a:off x="2169583" y="2764767"/>
            <a:ext cx="0" cy="60960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B8B114A3-9FF8-E2FC-2E2F-44F0396E2895}"/>
              </a:ext>
            </a:extLst>
          </p:cNvPr>
          <p:cNvSpPr txBox="1"/>
          <p:nvPr/>
        </p:nvSpPr>
        <p:spPr>
          <a:xfrm>
            <a:off x="1402340" y="3320797"/>
            <a:ext cx="1632856" cy="1754326"/>
          </a:xfrm>
          <a:prstGeom prst="rect">
            <a:avLst/>
          </a:prstGeom>
          <a:noFill/>
        </p:spPr>
        <p:txBody>
          <a:bodyPr wrap="square">
            <a:spAutoFit/>
          </a:bodyPr>
          <a:lstStyle/>
          <a:p>
            <a:r>
              <a:rPr lang="en-US" b="1" dirty="0"/>
              <a:t>Load dataset</a:t>
            </a:r>
          </a:p>
          <a:p>
            <a:r>
              <a:rPr lang="en-US" b="1" dirty="0"/>
              <a:t>Missing values</a:t>
            </a:r>
            <a:br>
              <a:rPr lang="en-US" b="1" dirty="0"/>
            </a:br>
            <a:r>
              <a:rPr lang="en-US" b="1" dirty="0"/>
              <a:t>Duplicates</a:t>
            </a:r>
            <a:br>
              <a:rPr lang="en-US" b="1" dirty="0"/>
            </a:br>
            <a:r>
              <a:rPr lang="en-US" b="1" dirty="0"/>
              <a:t>Data types</a:t>
            </a:r>
            <a:br>
              <a:rPr lang="en-US" b="1" dirty="0"/>
            </a:br>
            <a:r>
              <a:rPr lang="en-US" b="1" dirty="0"/>
              <a:t>Inconsistencies</a:t>
            </a:r>
            <a:br>
              <a:rPr lang="en-US" b="1" dirty="0"/>
            </a:br>
            <a:r>
              <a:rPr lang="en-US" b="1" dirty="0"/>
              <a:t>Outliers</a:t>
            </a:r>
          </a:p>
        </p:txBody>
      </p:sp>
      <p:cxnSp>
        <p:nvCxnSpPr>
          <p:cNvPr id="19" name="Straight Arrow Connector 18">
            <a:extLst>
              <a:ext uri="{FF2B5EF4-FFF2-40B4-BE49-F238E27FC236}">
                <a16:creationId xmlns:a16="http://schemas.microsoft.com/office/drawing/2014/main" id="{2FB0DF89-8C06-21BC-7569-F4CA2DFEF3C9}"/>
              </a:ext>
            </a:extLst>
          </p:cNvPr>
          <p:cNvCxnSpPr/>
          <p:nvPr/>
        </p:nvCxnSpPr>
        <p:spPr>
          <a:xfrm>
            <a:off x="5659882" y="2819400"/>
            <a:ext cx="0" cy="60960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5B94E3F7-9997-B421-BE1D-035F12E254FA}"/>
              </a:ext>
            </a:extLst>
          </p:cNvPr>
          <p:cNvSpPr txBox="1"/>
          <p:nvPr/>
        </p:nvSpPr>
        <p:spPr>
          <a:xfrm>
            <a:off x="4963411" y="3374367"/>
            <a:ext cx="2673065" cy="1477328"/>
          </a:xfrm>
          <a:prstGeom prst="rect">
            <a:avLst/>
          </a:prstGeom>
          <a:noFill/>
        </p:spPr>
        <p:txBody>
          <a:bodyPr wrap="square">
            <a:spAutoFit/>
          </a:bodyPr>
          <a:lstStyle/>
          <a:p>
            <a:pPr lvl="0"/>
            <a:r>
              <a:rPr lang="en-US" b="1" dirty="0"/>
              <a:t>Acceptance rate </a:t>
            </a:r>
          </a:p>
          <a:p>
            <a:pPr lvl="0"/>
            <a:r>
              <a:rPr lang="en-US" b="1" dirty="0"/>
              <a:t>Rejection rate </a:t>
            </a:r>
          </a:p>
          <a:p>
            <a:pPr lvl="0"/>
            <a:r>
              <a:rPr lang="en-US" b="1" dirty="0"/>
              <a:t>Gender ratios </a:t>
            </a:r>
          </a:p>
          <a:p>
            <a:pPr lvl="0"/>
            <a:r>
              <a:rPr lang="en-US" b="1" dirty="0"/>
              <a:t>Top 5 programs by </a:t>
            </a:r>
          </a:p>
          <a:p>
            <a:pPr lvl="0"/>
            <a:r>
              <a:rPr lang="en-US" b="1" dirty="0"/>
              <a:t>demand</a:t>
            </a:r>
          </a:p>
        </p:txBody>
      </p:sp>
      <p:sp>
        <p:nvSpPr>
          <p:cNvPr id="28" name="Rectangle: Rounded Corners 27">
            <a:extLst>
              <a:ext uri="{FF2B5EF4-FFF2-40B4-BE49-F238E27FC236}">
                <a16:creationId xmlns:a16="http://schemas.microsoft.com/office/drawing/2014/main" id="{658D4327-C3A2-C00C-E627-1402357A12EC}"/>
              </a:ext>
            </a:extLst>
          </p:cNvPr>
          <p:cNvSpPr/>
          <p:nvPr/>
        </p:nvSpPr>
        <p:spPr>
          <a:xfrm>
            <a:off x="7951507" y="1579427"/>
            <a:ext cx="2209800" cy="1143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Visualizations</a:t>
            </a:r>
          </a:p>
        </p:txBody>
      </p:sp>
      <p:sp>
        <p:nvSpPr>
          <p:cNvPr id="35" name="TextBox 34">
            <a:extLst>
              <a:ext uri="{FF2B5EF4-FFF2-40B4-BE49-F238E27FC236}">
                <a16:creationId xmlns:a16="http://schemas.microsoft.com/office/drawing/2014/main" id="{E4C1FE66-65C3-72CF-8DD7-8E47455032A5}"/>
              </a:ext>
            </a:extLst>
          </p:cNvPr>
          <p:cNvSpPr txBox="1"/>
          <p:nvPr/>
        </p:nvSpPr>
        <p:spPr>
          <a:xfrm>
            <a:off x="6940626" y="5404423"/>
            <a:ext cx="3573042" cy="923330"/>
          </a:xfrm>
          <a:prstGeom prst="rect">
            <a:avLst/>
          </a:prstGeom>
          <a:noFill/>
        </p:spPr>
        <p:txBody>
          <a:bodyPr wrap="square">
            <a:spAutoFit/>
          </a:bodyPr>
          <a:lstStyle/>
          <a:p>
            <a:r>
              <a:rPr lang="en-US" b="1" dirty="0"/>
              <a:t>Rule-based feature that automatically turns data analysis results into short, story-like insights</a:t>
            </a:r>
            <a:r>
              <a:rPr lang="en-US" dirty="0"/>
              <a:t>..</a:t>
            </a:r>
          </a:p>
        </p:txBody>
      </p:sp>
      <p:cxnSp>
        <p:nvCxnSpPr>
          <p:cNvPr id="38" name="Straight Arrow Connector 37">
            <a:extLst>
              <a:ext uri="{FF2B5EF4-FFF2-40B4-BE49-F238E27FC236}">
                <a16:creationId xmlns:a16="http://schemas.microsoft.com/office/drawing/2014/main" id="{F0E23AE2-C833-D687-EBB8-B6E00C2E09EA}"/>
              </a:ext>
            </a:extLst>
          </p:cNvPr>
          <p:cNvCxnSpPr/>
          <p:nvPr/>
        </p:nvCxnSpPr>
        <p:spPr>
          <a:xfrm>
            <a:off x="9056407" y="2822839"/>
            <a:ext cx="0" cy="60960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0" name="Rectangle: Rounded Corners 39">
            <a:extLst>
              <a:ext uri="{FF2B5EF4-FFF2-40B4-BE49-F238E27FC236}">
                <a16:creationId xmlns:a16="http://schemas.microsoft.com/office/drawing/2014/main" id="{0E802922-31AB-1060-EA7B-A138C75159F8}"/>
              </a:ext>
            </a:extLst>
          </p:cNvPr>
          <p:cNvSpPr/>
          <p:nvPr/>
        </p:nvSpPr>
        <p:spPr>
          <a:xfrm>
            <a:off x="3609579" y="5228662"/>
            <a:ext cx="2209800" cy="1143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AI Powered </a:t>
            </a:r>
          </a:p>
          <a:p>
            <a:pPr algn="ctr"/>
            <a:r>
              <a:rPr lang="en-US" sz="2400" b="1" dirty="0"/>
              <a:t>Feature</a:t>
            </a:r>
          </a:p>
        </p:txBody>
      </p:sp>
      <p:cxnSp>
        <p:nvCxnSpPr>
          <p:cNvPr id="42" name="Straight Arrow Connector 41">
            <a:extLst>
              <a:ext uri="{FF2B5EF4-FFF2-40B4-BE49-F238E27FC236}">
                <a16:creationId xmlns:a16="http://schemas.microsoft.com/office/drawing/2014/main" id="{A62B7BC3-0D20-BF1B-1DF7-870E4C1AE49A}"/>
              </a:ext>
            </a:extLst>
          </p:cNvPr>
          <p:cNvCxnSpPr>
            <a:cxnSpLocks/>
          </p:cNvCxnSpPr>
          <p:nvPr/>
        </p:nvCxnSpPr>
        <p:spPr>
          <a:xfrm>
            <a:off x="5947952" y="5794435"/>
            <a:ext cx="9926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F2009BFA-62DF-E568-3A63-D6D186A34318}"/>
              </a:ext>
            </a:extLst>
          </p:cNvPr>
          <p:cNvSpPr txBox="1"/>
          <p:nvPr/>
        </p:nvSpPr>
        <p:spPr>
          <a:xfrm>
            <a:off x="7951507" y="3372722"/>
            <a:ext cx="2893358" cy="1200329"/>
          </a:xfrm>
          <a:prstGeom prst="rect">
            <a:avLst/>
          </a:prstGeom>
          <a:noFill/>
        </p:spPr>
        <p:txBody>
          <a:bodyPr wrap="square">
            <a:spAutoFit/>
          </a:bodyPr>
          <a:lstStyle/>
          <a:p>
            <a:pPr>
              <a:buNone/>
            </a:pPr>
            <a:r>
              <a:rPr lang="en-US" b="1" dirty="0"/>
              <a:t>Used charts to identify outliers and present key data distributions</a:t>
            </a:r>
            <a:r>
              <a:rPr lang="en-US" dirty="0"/>
              <a:t>. </a:t>
            </a:r>
            <a:r>
              <a:rPr lang="en-US" b="1" dirty="0"/>
              <a:t>Bar plot, pie chart, box plot.</a:t>
            </a:r>
            <a:endParaRPr lang="en-US" dirty="0"/>
          </a:p>
        </p:txBody>
      </p:sp>
    </p:spTree>
    <p:extLst>
      <p:ext uri="{BB962C8B-B14F-4D97-AF65-F5344CB8AC3E}">
        <p14:creationId xmlns:p14="http://schemas.microsoft.com/office/powerpoint/2010/main" val="2618444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p:txBody>
          <a:bodyPr/>
          <a:lstStyle/>
          <a:p>
            <a:r>
              <a:rPr lang="en-US" b="1" dirty="0"/>
              <a:t>5</a:t>
            </a:r>
          </a:p>
        </p:txBody>
      </p:sp>
      <p:sp>
        <p:nvSpPr>
          <p:cNvPr id="11" name="Title 10">
            <a:extLst>
              <a:ext uri="{FF2B5EF4-FFF2-40B4-BE49-F238E27FC236}">
                <a16:creationId xmlns:a16="http://schemas.microsoft.com/office/drawing/2014/main" id="{949404F1-8E94-7D3D-71E2-A1A4B7CBCB4A}"/>
              </a:ext>
            </a:extLst>
          </p:cNvPr>
          <p:cNvSpPr>
            <a:spLocks noGrp="1"/>
          </p:cNvSpPr>
          <p:nvPr>
            <p:ph type="title" idx="4294967295"/>
          </p:nvPr>
        </p:nvSpPr>
        <p:spPr>
          <a:xfrm>
            <a:off x="517793" y="760163"/>
            <a:ext cx="10360025" cy="914400"/>
          </a:xfrm>
        </p:spPr>
        <p:txBody>
          <a:bodyPr/>
          <a:lstStyle/>
          <a:p>
            <a:pPr algn="ctr"/>
            <a:r>
              <a:rPr lang="en-US" sz="4000" dirty="0"/>
              <a:t>Methods</a:t>
            </a:r>
          </a:p>
        </p:txBody>
      </p:sp>
      <p:sp>
        <p:nvSpPr>
          <p:cNvPr id="8" name="TextBox 7">
            <a:extLst>
              <a:ext uri="{FF2B5EF4-FFF2-40B4-BE49-F238E27FC236}">
                <a16:creationId xmlns:a16="http://schemas.microsoft.com/office/drawing/2014/main" id="{F91525DF-3BF4-CB34-26E0-F91EC88F0B88}"/>
              </a:ext>
            </a:extLst>
          </p:cNvPr>
          <p:cNvSpPr txBox="1"/>
          <p:nvPr/>
        </p:nvSpPr>
        <p:spPr>
          <a:xfrm>
            <a:off x="517793" y="1861852"/>
            <a:ext cx="10719412" cy="4801314"/>
          </a:xfrm>
          <a:prstGeom prst="rect">
            <a:avLst/>
          </a:prstGeom>
          <a:noFill/>
        </p:spPr>
        <p:txBody>
          <a:bodyPr wrap="square" rtlCol="0">
            <a:spAutoFit/>
          </a:bodyPr>
          <a:lstStyle/>
          <a:p>
            <a:pPr marL="285750" indent="-285750">
              <a:buFont typeface="Wingdings" panose="05000000000000000000" pitchFamily="2" charset="2"/>
              <a:buChar char="v"/>
            </a:pPr>
            <a:r>
              <a:rPr lang="en-US" b="1" dirty="0"/>
              <a:t>LOAD THE DATASET</a:t>
            </a:r>
          </a:p>
          <a:p>
            <a:pPr lvl="0"/>
            <a:r>
              <a:rPr lang="en-US" dirty="0"/>
              <a:t>Imported the dataset from a CSV file using Pandas, with error handling for malformed data.</a:t>
            </a:r>
          </a:p>
          <a:p>
            <a:pPr lvl="0"/>
            <a:r>
              <a:rPr lang="en-US" dirty="0"/>
              <a:t>Stored the dataset in a DataFrame called data.</a:t>
            </a:r>
          </a:p>
          <a:p>
            <a:pPr lvl="0"/>
            <a:r>
              <a:rPr lang="en-US" dirty="0"/>
              <a:t>Displayed the first few rows to understand the structure of the data.</a:t>
            </a:r>
            <a:endParaRPr lang="en-US" b="1" dirty="0"/>
          </a:p>
          <a:p>
            <a:pPr marL="285750" lvl="0" indent="-285750">
              <a:buFont typeface="Wingdings" panose="05000000000000000000" pitchFamily="2" charset="2"/>
              <a:buChar char="v"/>
            </a:pPr>
            <a:r>
              <a:rPr lang="en-US" b="1" dirty="0"/>
              <a:t>DATA CLEANING</a:t>
            </a:r>
          </a:p>
          <a:p>
            <a:pPr marL="342900" lvl="0" indent="-342900">
              <a:buFont typeface="+mj-lt"/>
              <a:buAutoNum type="arabicPeriod"/>
            </a:pPr>
            <a:r>
              <a:rPr lang="en-US" dirty="0"/>
              <a:t>Dataset size: 25,000 rows × 13 columns.</a:t>
            </a:r>
          </a:p>
          <a:p>
            <a:pPr marL="342900" lvl="0" indent="-342900">
              <a:buFont typeface="+mj-lt"/>
              <a:buAutoNum type="arabicPeriod"/>
            </a:pPr>
            <a:r>
              <a:rPr lang="en-US" dirty="0"/>
              <a:t>Columns: student_id, age, gender, category, state, preferred_stream, entrance_exam, entrance_score, board_percentage, extracurricular_score, admission_probability, admission_status, scholarship_eligibility.</a:t>
            </a:r>
          </a:p>
          <a:p>
            <a:pPr marL="342900" lvl="0" indent="-342900">
              <a:buFont typeface="+mj-lt"/>
              <a:buAutoNum type="arabicPeriod"/>
            </a:pPr>
            <a:r>
              <a:rPr lang="en-US" dirty="0"/>
              <a:t>Missing values: No null values found.</a:t>
            </a:r>
          </a:p>
          <a:p>
            <a:pPr marL="342900" lvl="0" indent="-342900">
              <a:buFont typeface="+mj-lt"/>
              <a:buAutoNum type="arabicPeriod"/>
            </a:pPr>
            <a:r>
              <a:rPr lang="en-US" dirty="0"/>
              <a:t>Duplicates: No duplicate records found.</a:t>
            </a:r>
          </a:p>
          <a:p>
            <a:pPr marL="342900" lvl="0" indent="-342900">
              <a:buFont typeface="+mj-lt"/>
              <a:buAutoNum type="arabicPeriod"/>
            </a:pPr>
            <a:r>
              <a:rPr lang="en-US" dirty="0"/>
              <a:t>Data types: Numerical and categorical data types were identified and checked.</a:t>
            </a:r>
          </a:p>
          <a:p>
            <a:pPr marL="342900" lvl="0" indent="-342900">
              <a:buFont typeface="+mj-lt"/>
              <a:buAutoNum type="arabicPeriod"/>
            </a:pPr>
            <a:r>
              <a:rPr lang="en-US" dirty="0"/>
              <a:t>Descriptive statistics: describe() was used to examine the numerical columns.</a:t>
            </a:r>
          </a:p>
          <a:p>
            <a:pPr marL="342900" lvl="0" indent="-342900">
              <a:buFont typeface="+mj-lt"/>
              <a:buAutoNum type="arabicPeriod"/>
            </a:pPr>
            <a:r>
              <a:rPr lang="en-US" dirty="0"/>
              <a:t>Inconsistent values: No inconsistent categorical values were found.</a:t>
            </a:r>
          </a:p>
          <a:p>
            <a:pPr marL="342900" lvl="0" indent="-342900">
              <a:buFont typeface="+mj-lt"/>
              <a:buAutoNum type="arabicPeriod"/>
            </a:pPr>
            <a:r>
              <a:rPr lang="en-US" dirty="0"/>
              <a:t>Outliers: Detected in entrance_score and admission_probability using boxplots and the IQR method.</a:t>
            </a:r>
          </a:p>
          <a:p>
            <a:pPr marL="342900" lvl="0" indent="-342900">
              <a:buFont typeface="+mj-lt"/>
              <a:buAutoNum type="arabicPeriod"/>
            </a:pPr>
            <a:r>
              <a:rPr lang="en-US" dirty="0"/>
              <a:t>Outlier handling: Outliers were investigated based on the different scoring ranges of the entrance exams and were retained rather than automatically removed, as they could represent valid observations.</a:t>
            </a:r>
          </a:p>
          <a:p>
            <a:pPr lvl="0"/>
            <a:endParaRPr lang="en-US" dirty="0"/>
          </a:p>
        </p:txBody>
      </p:sp>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1A8BE4F-1868-1A33-D64F-D3152C52ED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363E26-342F-C822-EE79-1CDA7382C0F6}"/>
              </a:ext>
            </a:extLst>
          </p:cNvPr>
          <p:cNvSpPr>
            <a:spLocks noGrp="1"/>
          </p:cNvSpPr>
          <p:nvPr>
            <p:ph type="sldNum" sz="quarter" idx="4"/>
          </p:nvPr>
        </p:nvSpPr>
        <p:spPr/>
        <p:txBody>
          <a:bodyPr/>
          <a:lstStyle/>
          <a:p>
            <a:r>
              <a:rPr lang="en-US" b="1" dirty="0"/>
              <a:t>6</a:t>
            </a:r>
          </a:p>
        </p:txBody>
      </p:sp>
      <p:sp>
        <p:nvSpPr>
          <p:cNvPr id="11" name="Title 10">
            <a:extLst>
              <a:ext uri="{FF2B5EF4-FFF2-40B4-BE49-F238E27FC236}">
                <a16:creationId xmlns:a16="http://schemas.microsoft.com/office/drawing/2014/main" id="{C5082D71-027F-9812-BD81-D8F5E38ADC48}"/>
              </a:ext>
            </a:extLst>
          </p:cNvPr>
          <p:cNvSpPr>
            <a:spLocks noGrp="1"/>
          </p:cNvSpPr>
          <p:nvPr>
            <p:ph type="title" idx="4294967295"/>
          </p:nvPr>
        </p:nvSpPr>
        <p:spPr>
          <a:xfrm>
            <a:off x="517793" y="760163"/>
            <a:ext cx="10360025" cy="914400"/>
          </a:xfrm>
        </p:spPr>
        <p:txBody>
          <a:bodyPr/>
          <a:lstStyle/>
          <a:p>
            <a:pPr algn="ctr"/>
            <a:r>
              <a:rPr lang="en-US" sz="4000" dirty="0"/>
              <a:t>Methods</a:t>
            </a:r>
          </a:p>
        </p:txBody>
      </p:sp>
      <p:sp>
        <p:nvSpPr>
          <p:cNvPr id="4" name="TextBox 3">
            <a:extLst>
              <a:ext uri="{FF2B5EF4-FFF2-40B4-BE49-F238E27FC236}">
                <a16:creationId xmlns:a16="http://schemas.microsoft.com/office/drawing/2014/main" id="{271C0135-B04F-56DE-E190-1F98E4DED294}"/>
              </a:ext>
            </a:extLst>
          </p:cNvPr>
          <p:cNvSpPr txBox="1"/>
          <p:nvPr/>
        </p:nvSpPr>
        <p:spPr>
          <a:xfrm>
            <a:off x="859316" y="1612637"/>
            <a:ext cx="8295700" cy="2862322"/>
          </a:xfrm>
          <a:prstGeom prst="rect">
            <a:avLst/>
          </a:prstGeom>
          <a:noFill/>
        </p:spPr>
        <p:txBody>
          <a:bodyPr wrap="square">
            <a:spAutoFit/>
          </a:bodyPr>
          <a:lstStyle/>
          <a:p>
            <a:pPr marL="285750" indent="-285750">
              <a:buFont typeface="Wingdings" panose="05000000000000000000" pitchFamily="2" charset="2"/>
              <a:buChar char="v"/>
            </a:pPr>
            <a:r>
              <a:rPr lang="en-US" b="1" dirty="0"/>
              <a:t>EXPLORATORY DATA ANALYSIS (EDA)</a:t>
            </a:r>
          </a:p>
          <a:p>
            <a:pPr marL="342900" lvl="0" indent="-342900">
              <a:buFont typeface="+mj-lt"/>
              <a:buAutoNum type="arabicPeriod"/>
            </a:pPr>
            <a:r>
              <a:rPr lang="en-US" dirty="0"/>
              <a:t>Admission outcome: 32.61% admitted and 67.39% rejected.</a:t>
            </a:r>
          </a:p>
          <a:p>
            <a:pPr marL="342900" lvl="0" indent="-342900">
              <a:buFont typeface="+mj-lt"/>
              <a:buAutoNum type="arabicPeriod"/>
            </a:pPr>
            <a:r>
              <a:rPr lang="en-US" dirty="0"/>
              <a:t>Gender ratios: Other – 8,387 : Male – 8,364 : Female – 8,249.</a:t>
            </a:r>
          </a:p>
          <a:p>
            <a:pPr marL="342900" lvl="0" indent="-342900">
              <a:buFont typeface="+mj-lt"/>
              <a:buAutoNum type="arabicPeriod"/>
            </a:pPr>
            <a:r>
              <a:rPr lang="en-US" dirty="0"/>
              <a:t>Gender admission rates: Female – 32.69%; Male – 32.01%; Other – 33.12%.</a:t>
            </a:r>
          </a:p>
          <a:p>
            <a:pPr marL="342900" lvl="0" indent="-342900">
              <a:buFont typeface="+mj-lt"/>
              <a:buAutoNum type="arabicPeriod"/>
            </a:pPr>
            <a:r>
              <a:rPr lang="en-US" dirty="0"/>
              <a:t>Top 5 preferred programmes: Management, Arts, Nursing, Architecture, and Agriculture.</a:t>
            </a:r>
          </a:p>
          <a:p>
            <a:pPr marL="342900" lvl="0" indent="-342900">
              <a:buFont typeface="+mj-lt"/>
              <a:buAutoNum type="arabicPeriod"/>
            </a:pPr>
            <a:r>
              <a:rPr lang="en-US" dirty="0"/>
              <a:t>Admission comparison: Admitted applicants had higher average entrance scores, board percentages, extracurricular scores, and admission probabilities than rejected applicants.</a:t>
            </a:r>
          </a:p>
          <a:p>
            <a:pPr marL="342900" lvl="0" indent="-342900">
              <a:buFont typeface="+mj-lt"/>
              <a:buAutoNum type="arabicPeriod"/>
            </a:pPr>
            <a:r>
              <a:rPr lang="en-US" dirty="0"/>
              <a:t>Visual analysis: Charts were used to identify patterns and communicate the findings clearly.</a:t>
            </a:r>
          </a:p>
        </p:txBody>
      </p:sp>
    </p:spTree>
    <p:extLst>
      <p:ext uri="{BB962C8B-B14F-4D97-AF65-F5344CB8AC3E}">
        <p14:creationId xmlns:p14="http://schemas.microsoft.com/office/powerpoint/2010/main" val="2289239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5FE15-D652-A2E7-3ADC-0B948663F9A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2923B58-0EDE-73A7-1BD0-7398D8E8D97E}"/>
              </a:ext>
            </a:extLst>
          </p:cNvPr>
          <p:cNvSpPr>
            <a:spLocks noGrp="1"/>
          </p:cNvSpPr>
          <p:nvPr>
            <p:ph type="sldNum" sz="quarter" idx="4"/>
          </p:nvPr>
        </p:nvSpPr>
        <p:spPr/>
        <p:txBody>
          <a:bodyPr/>
          <a:lstStyle/>
          <a:p>
            <a:r>
              <a:rPr lang="en-US" b="1" dirty="0"/>
              <a:t>7</a:t>
            </a:r>
          </a:p>
        </p:txBody>
      </p:sp>
      <p:sp>
        <p:nvSpPr>
          <p:cNvPr id="11" name="Title 10">
            <a:extLst>
              <a:ext uri="{FF2B5EF4-FFF2-40B4-BE49-F238E27FC236}">
                <a16:creationId xmlns:a16="http://schemas.microsoft.com/office/drawing/2014/main" id="{BD1D7E07-5BE5-EB5A-9D64-7FE006306CD9}"/>
              </a:ext>
            </a:extLst>
          </p:cNvPr>
          <p:cNvSpPr>
            <a:spLocks noGrp="1"/>
          </p:cNvSpPr>
          <p:nvPr>
            <p:ph type="title" idx="4294967295"/>
          </p:nvPr>
        </p:nvSpPr>
        <p:spPr>
          <a:xfrm>
            <a:off x="0" y="914400"/>
            <a:ext cx="10360025" cy="914400"/>
          </a:xfrm>
        </p:spPr>
        <p:txBody>
          <a:bodyPr/>
          <a:lstStyle/>
          <a:p>
            <a:pPr algn="ctr"/>
            <a:r>
              <a:rPr lang="en-US" sz="3200" dirty="0"/>
              <a:t>VISUALIZATIONS</a:t>
            </a:r>
            <a:endParaRPr lang="en-US" dirty="0"/>
          </a:p>
        </p:txBody>
      </p:sp>
      <p:sp>
        <p:nvSpPr>
          <p:cNvPr id="2" name="TextBox 1">
            <a:extLst>
              <a:ext uri="{FF2B5EF4-FFF2-40B4-BE49-F238E27FC236}">
                <a16:creationId xmlns:a16="http://schemas.microsoft.com/office/drawing/2014/main" id="{9B46F834-6B33-9BD5-7679-3C1CE5F8E692}"/>
              </a:ext>
            </a:extLst>
          </p:cNvPr>
          <p:cNvSpPr txBox="1"/>
          <p:nvPr/>
        </p:nvSpPr>
        <p:spPr>
          <a:xfrm>
            <a:off x="1101687" y="1994053"/>
            <a:ext cx="8498174" cy="646331"/>
          </a:xfrm>
          <a:prstGeom prst="rect">
            <a:avLst/>
          </a:prstGeom>
          <a:noFill/>
        </p:spPr>
        <p:txBody>
          <a:bodyPr wrap="square" rtlCol="0">
            <a:spAutoFit/>
          </a:bodyPr>
          <a:lstStyle/>
          <a:p>
            <a:r>
              <a:rPr lang="en-US" b="1" dirty="0"/>
              <a:t>Checking for outliers using Visual method (boxplot)</a:t>
            </a:r>
          </a:p>
          <a:p>
            <a:endParaRPr lang="en-US" dirty="0"/>
          </a:p>
        </p:txBody>
      </p:sp>
      <p:pic>
        <p:nvPicPr>
          <p:cNvPr id="3" name="Picture 2">
            <a:extLst>
              <a:ext uri="{FF2B5EF4-FFF2-40B4-BE49-F238E27FC236}">
                <a16:creationId xmlns:a16="http://schemas.microsoft.com/office/drawing/2014/main" id="{310FE7A8-E84B-58D6-27A8-5DCBABFFA532}"/>
              </a:ext>
            </a:extLst>
          </p:cNvPr>
          <p:cNvPicPr>
            <a:picLocks noChangeAspect="1"/>
          </p:cNvPicPr>
          <p:nvPr/>
        </p:nvPicPr>
        <p:blipFill>
          <a:blip r:embed="rId3"/>
          <a:stretch>
            <a:fillRect/>
          </a:stretch>
        </p:blipFill>
        <p:spPr>
          <a:xfrm>
            <a:off x="1101687" y="2428468"/>
            <a:ext cx="4450814" cy="3515132"/>
          </a:xfrm>
          <a:prstGeom prst="rect">
            <a:avLst/>
          </a:prstGeom>
        </p:spPr>
      </p:pic>
      <p:pic>
        <p:nvPicPr>
          <p:cNvPr id="4" name="Picture 3">
            <a:extLst>
              <a:ext uri="{FF2B5EF4-FFF2-40B4-BE49-F238E27FC236}">
                <a16:creationId xmlns:a16="http://schemas.microsoft.com/office/drawing/2014/main" id="{790F53C3-A268-5779-DE47-0AD0CCCD4233}"/>
              </a:ext>
            </a:extLst>
          </p:cNvPr>
          <p:cNvPicPr>
            <a:picLocks noChangeAspect="1"/>
          </p:cNvPicPr>
          <p:nvPr/>
        </p:nvPicPr>
        <p:blipFill>
          <a:blip r:embed="rId4"/>
          <a:stretch>
            <a:fillRect/>
          </a:stretch>
        </p:blipFill>
        <p:spPr>
          <a:xfrm>
            <a:off x="5909211" y="2415824"/>
            <a:ext cx="4450814" cy="3527776"/>
          </a:xfrm>
          <a:prstGeom prst="rect">
            <a:avLst/>
          </a:prstGeom>
        </p:spPr>
      </p:pic>
    </p:spTree>
    <p:extLst>
      <p:ext uri="{BB962C8B-B14F-4D97-AF65-F5344CB8AC3E}">
        <p14:creationId xmlns:p14="http://schemas.microsoft.com/office/powerpoint/2010/main" val="1353215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6D63B-0414-8474-EF8F-A8BDC1E7F71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8D8F0C7-F4DE-0072-A5C2-3EB697DB42BE}"/>
              </a:ext>
            </a:extLst>
          </p:cNvPr>
          <p:cNvSpPr>
            <a:spLocks noGrp="1"/>
          </p:cNvSpPr>
          <p:nvPr>
            <p:ph type="sldNum" sz="quarter" idx="4"/>
          </p:nvPr>
        </p:nvSpPr>
        <p:spPr/>
        <p:txBody>
          <a:bodyPr/>
          <a:lstStyle/>
          <a:p>
            <a:r>
              <a:rPr lang="en-US" b="1" dirty="0"/>
              <a:t>8</a:t>
            </a:r>
          </a:p>
        </p:txBody>
      </p:sp>
      <p:sp>
        <p:nvSpPr>
          <p:cNvPr id="11" name="Title 10">
            <a:extLst>
              <a:ext uri="{FF2B5EF4-FFF2-40B4-BE49-F238E27FC236}">
                <a16:creationId xmlns:a16="http://schemas.microsoft.com/office/drawing/2014/main" id="{621A0346-A86B-060D-4051-80785F0A4F7F}"/>
              </a:ext>
            </a:extLst>
          </p:cNvPr>
          <p:cNvSpPr>
            <a:spLocks noGrp="1"/>
          </p:cNvSpPr>
          <p:nvPr>
            <p:ph type="title" idx="4294967295"/>
          </p:nvPr>
        </p:nvSpPr>
        <p:spPr>
          <a:xfrm>
            <a:off x="0" y="914400"/>
            <a:ext cx="10360025" cy="914400"/>
          </a:xfrm>
        </p:spPr>
        <p:txBody>
          <a:bodyPr/>
          <a:lstStyle/>
          <a:p>
            <a:pPr algn="ctr"/>
            <a:r>
              <a:rPr lang="en-US" sz="3200" dirty="0"/>
              <a:t>VISUALIZATIONS</a:t>
            </a:r>
            <a:endParaRPr lang="en-US" dirty="0"/>
          </a:p>
        </p:txBody>
      </p:sp>
      <p:sp>
        <p:nvSpPr>
          <p:cNvPr id="2" name="TextBox 1">
            <a:extLst>
              <a:ext uri="{FF2B5EF4-FFF2-40B4-BE49-F238E27FC236}">
                <a16:creationId xmlns:a16="http://schemas.microsoft.com/office/drawing/2014/main" id="{CE6B4B2B-B3A8-AEB8-4503-E52542802165}"/>
              </a:ext>
            </a:extLst>
          </p:cNvPr>
          <p:cNvSpPr txBox="1"/>
          <p:nvPr/>
        </p:nvSpPr>
        <p:spPr>
          <a:xfrm>
            <a:off x="1101687" y="1994053"/>
            <a:ext cx="8498174" cy="646331"/>
          </a:xfrm>
          <a:prstGeom prst="rect">
            <a:avLst/>
          </a:prstGeom>
          <a:noFill/>
        </p:spPr>
        <p:txBody>
          <a:bodyPr wrap="square" rtlCol="0">
            <a:spAutoFit/>
          </a:bodyPr>
          <a:lstStyle/>
          <a:p>
            <a:r>
              <a:rPr lang="en-US" b="1" dirty="0"/>
              <a:t>Checking for outliers using Visual method (boxplot)</a:t>
            </a:r>
          </a:p>
          <a:p>
            <a:endParaRPr lang="en-US" dirty="0"/>
          </a:p>
        </p:txBody>
      </p:sp>
      <p:pic>
        <p:nvPicPr>
          <p:cNvPr id="6" name="Picture 5">
            <a:extLst>
              <a:ext uri="{FF2B5EF4-FFF2-40B4-BE49-F238E27FC236}">
                <a16:creationId xmlns:a16="http://schemas.microsoft.com/office/drawing/2014/main" id="{4C5E0751-6CB3-E68A-2E28-144E3E5ECE1F}"/>
              </a:ext>
            </a:extLst>
          </p:cNvPr>
          <p:cNvPicPr>
            <a:picLocks noChangeAspect="1"/>
          </p:cNvPicPr>
          <p:nvPr/>
        </p:nvPicPr>
        <p:blipFill>
          <a:blip r:embed="rId3"/>
          <a:stretch>
            <a:fillRect/>
          </a:stretch>
        </p:blipFill>
        <p:spPr>
          <a:xfrm>
            <a:off x="1101687" y="2478801"/>
            <a:ext cx="4469841" cy="3542857"/>
          </a:xfrm>
          <a:prstGeom prst="rect">
            <a:avLst/>
          </a:prstGeom>
        </p:spPr>
      </p:pic>
      <p:pic>
        <p:nvPicPr>
          <p:cNvPr id="7" name="Picture 6">
            <a:extLst>
              <a:ext uri="{FF2B5EF4-FFF2-40B4-BE49-F238E27FC236}">
                <a16:creationId xmlns:a16="http://schemas.microsoft.com/office/drawing/2014/main" id="{898D65EB-DD66-6579-D3BA-9090D6DA6BCB}"/>
              </a:ext>
            </a:extLst>
          </p:cNvPr>
          <p:cNvPicPr>
            <a:picLocks noChangeAspect="1"/>
          </p:cNvPicPr>
          <p:nvPr/>
        </p:nvPicPr>
        <p:blipFill>
          <a:blip r:embed="rId4"/>
          <a:stretch>
            <a:fillRect/>
          </a:stretch>
        </p:blipFill>
        <p:spPr>
          <a:xfrm>
            <a:off x="5890184" y="2478800"/>
            <a:ext cx="4469841" cy="3542857"/>
          </a:xfrm>
          <a:prstGeom prst="rect">
            <a:avLst/>
          </a:prstGeom>
        </p:spPr>
      </p:pic>
    </p:spTree>
    <p:extLst>
      <p:ext uri="{BB962C8B-B14F-4D97-AF65-F5344CB8AC3E}">
        <p14:creationId xmlns:p14="http://schemas.microsoft.com/office/powerpoint/2010/main" val="3945616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5605E-CF4B-C99B-A841-417D80DC8A7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4D87D90-0A2A-303E-84F3-35CC6319DBA2}"/>
              </a:ext>
            </a:extLst>
          </p:cNvPr>
          <p:cNvSpPr>
            <a:spLocks noGrp="1"/>
          </p:cNvSpPr>
          <p:nvPr>
            <p:ph type="sldNum" sz="quarter" idx="4"/>
          </p:nvPr>
        </p:nvSpPr>
        <p:spPr/>
        <p:txBody>
          <a:bodyPr/>
          <a:lstStyle/>
          <a:p>
            <a:r>
              <a:rPr lang="en-US" b="1" dirty="0"/>
              <a:t>9</a:t>
            </a:r>
          </a:p>
        </p:txBody>
      </p:sp>
      <p:sp>
        <p:nvSpPr>
          <p:cNvPr id="11" name="Title 10">
            <a:extLst>
              <a:ext uri="{FF2B5EF4-FFF2-40B4-BE49-F238E27FC236}">
                <a16:creationId xmlns:a16="http://schemas.microsoft.com/office/drawing/2014/main" id="{C5160005-9639-FE0C-B573-D16BB0DD48CA}"/>
              </a:ext>
            </a:extLst>
          </p:cNvPr>
          <p:cNvSpPr>
            <a:spLocks noGrp="1"/>
          </p:cNvSpPr>
          <p:nvPr>
            <p:ph type="title" idx="4294967295"/>
          </p:nvPr>
        </p:nvSpPr>
        <p:spPr>
          <a:xfrm>
            <a:off x="0" y="914400"/>
            <a:ext cx="10360025" cy="914400"/>
          </a:xfrm>
        </p:spPr>
        <p:txBody>
          <a:bodyPr/>
          <a:lstStyle/>
          <a:p>
            <a:pPr algn="ctr"/>
            <a:r>
              <a:rPr lang="en-US" sz="3200" dirty="0"/>
              <a:t>VISUALIZATIONS</a:t>
            </a:r>
            <a:endParaRPr lang="en-US" dirty="0"/>
          </a:p>
        </p:txBody>
      </p:sp>
      <p:sp>
        <p:nvSpPr>
          <p:cNvPr id="2" name="TextBox 1">
            <a:extLst>
              <a:ext uri="{FF2B5EF4-FFF2-40B4-BE49-F238E27FC236}">
                <a16:creationId xmlns:a16="http://schemas.microsoft.com/office/drawing/2014/main" id="{8B1BA9FA-F6CA-A914-4C6C-2304A61F2604}"/>
              </a:ext>
            </a:extLst>
          </p:cNvPr>
          <p:cNvSpPr txBox="1"/>
          <p:nvPr/>
        </p:nvSpPr>
        <p:spPr>
          <a:xfrm>
            <a:off x="1101687" y="1994053"/>
            <a:ext cx="8498174" cy="646331"/>
          </a:xfrm>
          <a:prstGeom prst="rect">
            <a:avLst/>
          </a:prstGeom>
          <a:noFill/>
        </p:spPr>
        <p:txBody>
          <a:bodyPr wrap="square" rtlCol="0">
            <a:spAutoFit/>
          </a:bodyPr>
          <a:lstStyle/>
          <a:p>
            <a:r>
              <a:rPr lang="en-US" b="1" dirty="0"/>
              <a:t>Checking for outliers using Visual method (boxplot)</a:t>
            </a:r>
          </a:p>
          <a:p>
            <a:endParaRPr lang="en-US" dirty="0"/>
          </a:p>
        </p:txBody>
      </p:sp>
      <p:pic>
        <p:nvPicPr>
          <p:cNvPr id="3" name="Picture 2">
            <a:extLst>
              <a:ext uri="{FF2B5EF4-FFF2-40B4-BE49-F238E27FC236}">
                <a16:creationId xmlns:a16="http://schemas.microsoft.com/office/drawing/2014/main" id="{20CC0E77-049C-25ED-78B6-8092C1E8F526}"/>
              </a:ext>
            </a:extLst>
          </p:cNvPr>
          <p:cNvPicPr>
            <a:picLocks noChangeAspect="1"/>
          </p:cNvPicPr>
          <p:nvPr/>
        </p:nvPicPr>
        <p:blipFill>
          <a:blip r:embed="rId3"/>
          <a:stretch>
            <a:fillRect/>
          </a:stretch>
        </p:blipFill>
        <p:spPr>
          <a:xfrm>
            <a:off x="1101687" y="2446188"/>
            <a:ext cx="4469841" cy="3542857"/>
          </a:xfrm>
          <a:prstGeom prst="rect">
            <a:avLst/>
          </a:prstGeom>
        </p:spPr>
      </p:pic>
      <p:sp>
        <p:nvSpPr>
          <p:cNvPr id="8" name="TextBox 7">
            <a:extLst>
              <a:ext uri="{FF2B5EF4-FFF2-40B4-BE49-F238E27FC236}">
                <a16:creationId xmlns:a16="http://schemas.microsoft.com/office/drawing/2014/main" id="{723A9F80-B676-4B04-5EE9-1D533591A112}"/>
              </a:ext>
            </a:extLst>
          </p:cNvPr>
          <p:cNvSpPr txBox="1"/>
          <p:nvPr/>
        </p:nvSpPr>
        <p:spPr>
          <a:xfrm>
            <a:off x="5695720" y="2856799"/>
            <a:ext cx="6103344" cy="1015663"/>
          </a:xfrm>
          <a:prstGeom prst="rect">
            <a:avLst/>
          </a:prstGeom>
          <a:noFill/>
        </p:spPr>
        <p:txBody>
          <a:bodyPr wrap="square">
            <a:spAutoFit/>
          </a:bodyPr>
          <a:lstStyle/>
          <a:p>
            <a:r>
              <a:rPr lang="en-US" sz="2000" b="1" dirty="0"/>
              <a:t>As shown in the figures, boxplots were used to identify potential outliers, indicated by points extending beyond the whiskers</a:t>
            </a:r>
            <a:r>
              <a:rPr lang="en-US" dirty="0"/>
              <a:t>.</a:t>
            </a:r>
          </a:p>
        </p:txBody>
      </p:sp>
    </p:spTree>
    <p:extLst>
      <p:ext uri="{BB962C8B-B14F-4D97-AF65-F5344CB8AC3E}">
        <p14:creationId xmlns:p14="http://schemas.microsoft.com/office/powerpoint/2010/main" val="4154972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190A4-C99B-0AB9-F224-E56B9E6DA6F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FB0825B-DECF-E3EA-ACB2-DD4D8512E5C9}"/>
              </a:ext>
            </a:extLst>
          </p:cNvPr>
          <p:cNvSpPr>
            <a:spLocks noGrp="1"/>
          </p:cNvSpPr>
          <p:nvPr>
            <p:ph type="sldNum" sz="quarter" idx="4"/>
          </p:nvPr>
        </p:nvSpPr>
        <p:spPr/>
        <p:txBody>
          <a:bodyPr/>
          <a:lstStyle/>
          <a:p>
            <a:r>
              <a:rPr lang="en-US" b="1" dirty="0"/>
              <a:t>10</a:t>
            </a:r>
          </a:p>
        </p:txBody>
      </p:sp>
      <p:sp>
        <p:nvSpPr>
          <p:cNvPr id="11" name="Title 10">
            <a:extLst>
              <a:ext uri="{FF2B5EF4-FFF2-40B4-BE49-F238E27FC236}">
                <a16:creationId xmlns:a16="http://schemas.microsoft.com/office/drawing/2014/main" id="{EE6E3A55-D74E-1617-D614-BFE4E813B549}"/>
              </a:ext>
            </a:extLst>
          </p:cNvPr>
          <p:cNvSpPr>
            <a:spLocks noGrp="1"/>
          </p:cNvSpPr>
          <p:nvPr>
            <p:ph type="title" idx="4294967295"/>
          </p:nvPr>
        </p:nvSpPr>
        <p:spPr>
          <a:xfrm>
            <a:off x="0" y="914400"/>
            <a:ext cx="10360025" cy="914400"/>
          </a:xfrm>
        </p:spPr>
        <p:txBody>
          <a:bodyPr/>
          <a:lstStyle/>
          <a:p>
            <a:pPr algn="ctr"/>
            <a:r>
              <a:rPr lang="en-US" sz="3200" dirty="0"/>
              <a:t>VISUALIZATIONS</a:t>
            </a:r>
            <a:endParaRPr lang="en-US" dirty="0"/>
          </a:p>
        </p:txBody>
      </p:sp>
      <p:pic>
        <p:nvPicPr>
          <p:cNvPr id="4" name="Picture 3">
            <a:extLst>
              <a:ext uri="{FF2B5EF4-FFF2-40B4-BE49-F238E27FC236}">
                <a16:creationId xmlns:a16="http://schemas.microsoft.com/office/drawing/2014/main" id="{53AEA74C-14CF-56C6-3B2C-8E5E095229F8}"/>
              </a:ext>
            </a:extLst>
          </p:cNvPr>
          <p:cNvPicPr>
            <a:picLocks noChangeAspect="1"/>
          </p:cNvPicPr>
          <p:nvPr/>
        </p:nvPicPr>
        <p:blipFill>
          <a:blip r:embed="rId3"/>
          <a:stretch>
            <a:fillRect/>
          </a:stretch>
        </p:blipFill>
        <p:spPr>
          <a:xfrm>
            <a:off x="862552" y="2454902"/>
            <a:ext cx="4317460" cy="4520635"/>
          </a:xfrm>
          <a:prstGeom prst="rect">
            <a:avLst/>
          </a:prstGeom>
        </p:spPr>
      </p:pic>
      <p:sp>
        <p:nvSpPr>
          <p:cNvPr id="6" name="TextBox 5">
            <a:extLst>
              <a:ext uri="{FF2B5EF4-FFF2-40B4-BE49-F238E27FC236}">
                <a16:creationId xmlns:a16="http://schemas.microsoft.com/office/drawing/2014/main" id="{A5FB8536-DD49-E7FD-01F1-9059B6EC3C42}"/>
              </a:ext>
            </a:extLst>
          </p:cNvPr>
          <p:cNvSpPr txBox="1"/>
          <p:nvPr/>
        </p:nvSpPr>
        <p:spPr>
          <a:xfrm>
            <a:off x="718181" y="1957185"/>
            <a:ext cx="4812286" cy="369332"/>
          </a:xfrm>
          <a:prstGeom prst="rect">
            <a:avLst/>
          </a:prstGeom>
          <a:noFill/>
        </p:spPr>
        <p:txBody>
          <a:bodyPr wrap="square" rtlCol="0">
            <a:spAutoFit/>
          </a:bodyPr>
          <a:lstStyle/>
          <a:p>
            <a:r>
              <a:rPr lang="en-US" b="1"/>
              <a:t>Proportion Analysis Using Pie Charts</a:t>
            </a:r>
            <a:endParaRPr lang="en-US"/>
          </a:p>
        </p:txBody>
      </p:sp>
      <p:pic>
        <p:nvPicPr>
          <p:cNvPr id="10" name="Picture 9">
            <a:extLst>
              <a:ext uri="{FF2B5EF4-FFF2-40B4-BE49-F238E27FC236}">
                <a16:creationId xmlns:a16="http://schemas.microsoft.com/office/drawing/2014/main" id="{99813E4E-E8FC-112A-1421-F84BE558C885}"/>
              </a:ext>
            </a:extLst>
          </p:cNvPr>
          <p:cNvPicPr>
            <a:picLocks noChangeAspect="1"/>
          </p:cNvPicPr>
          <p:nvPr/>
        </p:nvPicPr>
        <p:blipFill>
          <a:blip r:embed="rId4"/>
          <a:stretch>
            <a:fillRect/>
          </a:stretch>
        </p:blipFill>
        <p:spPr>
          <a:xfrm>
            <a:off x="6096000" y="2454901"/>
            <a:ext cx="4787301" cy="4520635"/>
          </a:xfrm>
          <a:prstGeom prst="rect">
            <a:avLst/>
          </a:prstGeom>
        </p:spPr>
      </p:pic>
    </p:spTree>
    <p:extLst>
      <p:ext uri="{BB962C8B-B14F-4D97-AF65-F5344CB8AC3E}">
        <p14:creationId xmlns:p14="http://schemas.microsoft.com/office/powerpoint/2010/main" val="4097137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522F3-F6CF-A43E-5F3A-BDBAF807E77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B7F3652-75A3-3BA9-FF0D-494BDC7F3D1D}"/>
              </a:ext>
            </a:extLst>
          </p:cNvPr>
          <p:cNvSpPr>
            <a:spLocks noGrp="1"/>
          </p:cNvSpPr>
          <p:nvPr>
            <p:ph type="sldNum" sz="quarter" idx="4"/>
          </p:nvPr>
        </p:nvSpPr>
        <p:spPr/>
        <p:txBody>
          <a:bodyPr/>
          <a:lstStyle/>
          <a:p>
            <a:r>
              <a:rPr lang="en-US" b="1" dirty="0"/>
              <a:t>11</a:t>
            </a:r>
          </a:p>
        </p:txBody>
      </p:sp>
      <p:sp>
        <p:nvSpPr>
          <p:cNvPr id="11" name="Title 10">
            <a:extLst>
              <a:ext uri="{FF2B5EF4-FFF2-40B4-BE49-F238E27FC236}">
                <a16:creationId xmlns:a16="http://schemas.microsoft.com/office/drawing/2014/main" id="{49F8D238-D112-321D-F7EC-166668FC6DF9}"/>
              </a:ext>
            </a:extLst>
          </p:cNvPr>
          <p:cNvSpPr>
            <a:spLocks noGrp="1"/>
          </p:cNvSpPr>
          <p:nvPr>
            <p:ph type="title" idx="4294967295"/>
          </p:nvPr>
        </p:nvSpPr>
        <p:spPr>
          <a:xfrm>
            <a:off x="0" y="914400"/>
            <a:ext cx="10360025" cy="914400"/>
          </a:xfrm>
        </p:spPr>
        <p:txBody>
          <a:bodyPr/>
          <a:lstStyle/>
          <a:p>
            <a:pPr algn="ctr"/>
            <a:r>
              <a:rPr lang="en-US" sz="3200" dirty="0"/>
              <a:t>VISUALIZATIONS</a:t>
            </a:r>
            <a:endParaRPr lang="en-US" dirty="0"/>
          </a:p>
        </p:txBody>
      </p:sp>
      <p:sp>
        <p:nvSpPr>
          <p:cNvPr id="6" name="TextBox 5">
            <a:extLst>
              <a:ext uri="{FF2B5EF4-FFF2-40B4-BE49-F238E27FC236}">
                <a16:creationId xmlns:a16="http://schemas.microsoft.com/office/drawing/2014/main" id="{E20585FC-624F-7756-B6A6-3BA52D14848A}"/>
              </a:ext>
            </a:extLst>
          </p:cNvPr>
          <p:cNvSpPr txBox="1"/>
          <p:nvPr/>
        </p:nvSpPr>
        <p:spPr>
          <a:xfrm>
            <a:off x="718181" y="1957185"/>
            <a:ext cx="4812286" cy="646331"/>
          </a:xfrm>
          <a:prstGeom prst="rect">
            <a:avLst/>
          </a:prstGeom>
          <a:noFill/>
        </p:spPr>
        <p:txBody>
          <a:bodyPr wrap="square" rtlCol="0">
            <a:spAutoFit/>
          </a:bodyPr>
          <a:lstStyle/>
          <a:p>
            <a:r>
              <a:rPr lang="en-US" b="1" dirty="0"/>
              <a:t>Distribution Analysis Using Bar Charts</a:t>
            </a:r>
            <a:endParaRPr lang="en-US" dirty="0"/>
          </a:p>
          <a:p>
            <a:endParaRPr lang="en-US" dirty="0"/>
          </a:p>
        </p:txBody>
      </p:sp>
      <p:pic>
        <p:nvPicPr>
          <p:cNvPr id="2" name="Picture 1">
            <a:extLst>
              <a:ext uri="{FF2B5EF4-FFF2-40B4-BE49-F238E27FC236}">
                <a16:creationId xmlns:a16="http://schemas.microsoft.com/office/drawing/2014/main" id="{F09C3F1D-217D-45C8-4918-3DF89D84D07C}"/>
              </a:ext>
            </a:extLst>
          </p:cNvPr>
          <p:cNvPicPr>
            <a:picLocks noChangeAspect="1"/>
          </p:cNvPicPr>
          <p:nvPr/>
        </p:nvPicPr>
        <p:blipFill>
          <a:blip r:embed="rId3"/>
          <a:stretch>
            <a:fillRect/>
          </a:stretch>
        </p:blipFill>
        <p:spPr>
          <a:xfrm>
            <a:off x="27523" y="2474606"/>
            <a:ext cx="5866501" cy="3853146"/>
          </a:xfrm>
          <a:prstGeom prst="rect">
            <a:avLst/>
          </a:prstGeom>
        </p:spPr>
      </p:pic>
      <p:pic>
        <p:nvPicPr>
          <p:cNvPr id="3" name="Picture 2">
            <a:extLst>
              <a:ext uri="{FF2B5EF4-FFF2-40B4-BE49-F238E27FC236}">
                <a16:creationId xmlns:a16="http://schemas.microsoft.com/office/drawing/2014/main" id="{83115BE7-18F7-D2FC-B4F2-9B1C087A9ABB}"/>
              </a:ext>
            </a:extLst>
          </p:cNvPr>
          <p:cNvPicPr>
            <a:picLocks noChangeAspect="1"/>
          </p:cNvPicPr>
          <p:nvPr/>
        </p:nvPicPr>
        <p:blipFill>
          <a:blip r:embed="rId4"/>
          <a:stretch>
            <a:fillRect/>
          </a:stretch>
        </p:blipFill>
        <p:spPr>
          <a:xfrm>
            <a:off x="6096000" y="2054399"/>
            <a:ext cx="5598424" cy="4273353"/>
          </a:xfrm>
          <a:prstGeom prst="rect">
            <a:avLst/>
          </a:prstGeom>
        </p:spPr>
      </p:pic>
    </p:spTree>
    <p:extLst>
      <p:ext uri="{BB962C8B-B14F-4D97-AF65-F5344CB8AC3E}">
        <p14:creationId xmlns:p14="http://schemas.microsoft.com/office/powerpoint/2010/main" val="2728064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p:txBody>
          <a:bodyPr/>
          <a:lstStyle/>
          <a:p>
            <a:r>
              <a:rPr lang="en-US" b="1" dirty="0"/>
              <a:t>12</a:t>
            </a:r>
          </a:p>
        </p:txBody>
      </p:sp>
      <p:sp>
        <p:nvSpPr>
          <p:cNvPr id="11" name="Title 10">
            <a:extLst>
              <a:ext uri="{FF2B5EF4-FFF2-40B4-BE49-F238E27FC236}">
                <a16:creationId xmlns:a16="http://schemas.microsoft.com/office/drawing/2014/main" id="{7A49C0DA-C8AE-5ECC-149A-D60ECFF8C1EB}"/>
              </a:ext>
            </a:extLst>
          </p:cNvPr>
          <p:cNvSpPr>
            <a:spLocks noGrp="1"/>
          </p:cNvSpPr>
          <p:nvPr>
            <p:ph type="title" idx="4294967295"/>
          </p:nvPr>
        </p:nvSpPr>
        <p:spPr>
          <a:xfrm>
            <a:off x="0" y="914400"/>
            <a:ext cx="10360025" cy="914400"/>
          </a:xfrm>
        </p:spPr>
        <p:txBody>
          <a:bodyPr/>
          <a:lstStyle/>
          <a:p>
            <a:pPr algn="ctr"/>
            <a:r>
              <a:rPr lang="en-US" sz="3200" dirty="0"/>
              <a:t>MODEL RESULTS: RULE BASED</a:t>
            </a:r>
            <a:endParaRPr lang="en-US" dirty="0"/>
          </a:p>
        </p:txBody>
      </p:sp>
      <p:sp>
        <p:nvSpPr>
          <p:cNvPr id="2" name="TextBox 1">
            <a:extLst>
              <a:ext uri="{FF2B5EF4-FFF2-40B4-BE49-F238E27FC236}">
                <a16:creationId xmlns:a16="http://schemas.microsoft.com/office/drawing/2014/main" id="{E864F7EF-80DB-F531-D7E6-C8948DAF9DBC}"/>
              </a:ext>
            </a:extLst>
          </p:cNvPr>
          <p:cNvSpPr txBox="1"/>
          <p:nvPr/>
        </p:nvSpPr>
        <p:spPr>
          <a:xfrm>
            <a:off x="1101687" y="1994053"/>
            <a:ext cx="8498174" cy="4247317"/>
          </a:xfrm>
          <a:prstGeom prst="rect">
            <a:avLst/>
          </a:prstGeom>
          <a:noFill/>
        </p:spPr>
        <p:txBody>
          <a:bodyPr wrap="square" rtlCol="0">
            <a:spAutoFit/>
          </a:bodyPr>
          <a:lstStyle/>
          <a:p>
            <a:r>
              <a:rPr lang="en-US" dirty="0"/>
              <a:t>RULE-BASED INSIGHTS</a:t>
            </a:r>
          </a:p>
          <a:p>
            <a:pPr fontAlgn="base" latinLnBrk="1"/>
            <a:endParaRPr lang="en-US" dirty="0"/>
          </a:p>
          <a:p>
            <a:pPr fontAlgn="base" latinLnBrk="1"/>
            <a:r>
              <a:rPr lang="en-US" dirty="0"/>
              <a:t>Looking at the admission results, 32.61% of applicants were admitted, meaning fewer than half of the applicants gained admission.</a:t>
            </a:r>
          </a:p>
          <a:p>
            <a:pPr fontAlgn="base" latinLnBrk="1"/>
            <a:endParaRPr lang="en-US" dirty="0"/>
          </a:p>
          <a:p>
            <a:pPr fontAlgn="base" latinLnBrk="1"/>
            <a:r>
              <a:rPr lang="en-US" dirty="0"/>
              <a:t>Among the applicants, the other group had the highest number of applicants, with 8,387 students.</a:t>
            </a:r>
          </a:p>
          <a:p>
            <a:pPr fontAlgn="base" latinLnBrk="1"/>
            <a:endParaRPr lang="en-US" dirty="0"/>
          </a:p>
          <a:p>
            <a:pPr fontAlgn="base" latinLnBrk="1"/>
            <a:r>
              <a:rPr lang="en-US" dirty="0"/>
              <a:t>When we look at programme preferences, Management was the most popular choice, attracting 2,163 applicants.</a:t>
            </a:r>
          </a:p>
          <a:p>
            <a:pPr fontAlgn="base" latinLnBrk="1"/>
            <a:endParaRPr lang="en-US" dirty="0"/>
          </a:p>
          <a:p>
            <a:pPr fontAlgn="base" latinLnBrk="1"/>
            <a:r>
              <a:rPr lang="en-US" dirty="0"/>
              <a:t>The data also shows a difference in entrance scores. Applicants who were admitted had an average score of 106.92, compared with 63.83 for rejected applicants.</a:t>
            </a:r>
          </a:p>
          <a:p>
            <a:r>
              <a:rPr lang="en-US" b="1" dirty="0"/>
              <a:t> </a:t>
            </a:r>
          </a:p>
          <a:p>
            <a:endParaRPr lang="en-US" dirty="0"/>
          </a:p>
        </p:txBody>
      </p:sp>
    </p:spTree>
    <p:extLst>
      <p:ext uri="{BB962C8B-B14F-4D97-AF65-F5344CB8AC3E}">
        <p14:creationId xmlns:p14="http://schemas.microsoft.com/office/powerpoint/2010/main" val="3748348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538949" y="914400"/>
            <a:ext cx="5641848" cy="5029200"/>
          </a:xfrm>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{72BC3BB7-8E59-41C9-BAD0-371DFA33D12E}TF1ed9553b-00c4-4092-846a-c8f7f2908f3beecd942f_win32-8e33096c3cfc</Template>
  <TotalTime>297</TotalTime>
  <Words>750</Words>
  <Application>Microsoft Office PowerPoint</Application>
  <PresentationFormat>Widescreen</PresentationFormat>
  <Paragraphs>108</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Gill Sans Nova Light</vt:lpstr>
      <vt:lpstr>Sagona Book</vt:lpstr>
      <vt:lpstr>Wingdings</vt:lpstr>
      <vt:lpstr>Custom</vt:lpstr>
      <vt:lpstr>ADMISSION DATA EXPLORER  Learning Pathway: Generative AI and Data Science Hands-on Project  Nabila Ahmad SIWES — FlexiSAF Edusoft Limited </vt:lpstr>
      <vt:lpstr>PROJECT DESCRIPTION</vt:lpstr>
      <vt:lpstr>Project Overview</vt:lpstr>
      <vt:lpstr>Dataset Information</vt:lpstr>
      <vt:lpstr>Methods</vt:lpstr>
      <vt:lpstr>Methods</vt:lpstr>
      <vt:lpstr>Methods</vt:lpstr>
      <vt:lpstr>VISUALIZATIONS</vt:lpstr>
      <vt:lpstr>VISUALIZATIONS</vt:lpstr>
      <vt:lpstr>VISUALIZATIONS</vt:lpstr>
      <vt:lpstr>VISUALIZATIONS</vt:lpstr>
      <vt:lpstr>VISUALIZATIONS</vt:lpstr>
      <vt:lpstr>MODEL RESULTS: RULE BASED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Nabila Ahmad</dc:creator>
  <cp:lastModifiedBy>Nabila Ahmad</cp:lastModifiedBy>
  <cp:revision>2</cp:revision>
  <dcterms:created xsi:type="dcterms:W3CDTF">2026-09-22T10:54:49Z</dcterms:created>
  <dcterms:modified xsi:type="dcterms:W3CDTF">2026-09-22T15:52:49Z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